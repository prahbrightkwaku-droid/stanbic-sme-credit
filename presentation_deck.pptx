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includes 2,000 SME applications across Ghana. Default rates vary significantly by sector. The cost asymmetry between false positives and false negatives is critical—declining a good borrower (false positive) costs more than approving a bad one (false negative). This 10:1 ratio drives our decision threshold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EDA, we detected significant missing data patterns that could indicate leakage. Instead of just imputing, we investigated root causes and found systematic collection gaps. We excluded these records to prevent leakage, ensuring the model learns from clean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engineered 41 features in three categories: numeric (revenue metrics, ratios), categorical (sector, region), and binary (credit defects, collateral). Features were designed to capture domain knowledge while avoiding multicollinearity. SHAP analysis validated feature importance.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models were trained with 5-fold cross-validation. Logistic Regression won despite lower absolute AUC because it offers superior interpretability for regulatory compliance and fairer predictions across demographic groups. Gini coefficients show model discrimination 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engine combines model scores with hard business rules. This three-tier framework (APPROVE/REFER/DECLINE) allows manual review of borderline cases, reducing false positives. Rules are derived from regulatory requirements and business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was built-in from the start, not added after. We calculated Disparate Impact Ratios for protected groups and verified all meet the 0.80 threshold. SHAP waterfall plots show feature contributions are fair across demographic groups.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modular and production-ready. Each component (preprocessing, feature engineering, modeling, decision engine) is independently testable. Fairness auditing and explainability are integrated, not bolted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SME Credit Assessment Pipeline</a:t>
            </a:r>
          </a:p>
        </p:txBody>
      </p:sp>
      <p:sp>
        <p:nvSpPr>
          <p:cNvPr id="3" name="TextBox 2"/>
          <p:cNvSpPr txBox="1"/>
          <p:nvPr/>
        </p:nvSpPr>
        <p:spPr>
          <a:xfrm>
            <a:off x="457200" y="3840480"/>
            <a:ext cx="8229600" cy="1828800"/>
          </a:xfrm>
          <a:prstGeom prst="rect">
            <a:avLst/>
          </a:prstGeom>
          <a:noFill/>
        </p:spPr>
        <p:txBody>
          <a:bodyPr wrap="square">
            <a:spAutoFit/>
          </a:bodyPr>
          <a:lstStyle/>
          <a:p>
            <a:pPr algn="ctr">
              <a:defRPr sz="2800">
                <a:solidFill>
                  <a:srgbClr val="0066CC"/>
                </a:solidFill>
              </a:defRPr>
            </a:pPr>
            <a:r>
              <a:t>Stanbic Bank Ghana</a:t>
            </a:r>
          </a:p>
          <a:p>
            <a:r>
              <a:t>May 2,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003366"/>
                </a:solidFill>
              </a:defRPr>
            </a:pPr>
            <a:r>
              <a:t>Dataset Context &amp; Cost Asymmetry</a:t>
            </a:r>
          </a:p>
        </p:txBody>
      </p:sp>
      <p:sp>
        <p:nvSpPr>
          <p:cNvPr id="3" name="Rectangle 2"/>
          <p:cNvSpPr/>
          <p:nvPr/>
        </p:nvSpPr>
        <p:spPr>
          <a:xfrm>
            <a:off x="457200" y="1051560"/>
            <a:ext cx="8229600" cy="0"/>
          </a:xfrm>
          <a:prstGeom prst="rect">
            <a:avLst/>
          </a:prstGeom>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4114800" cy="5029200"/>
          </a:xfrm>
          <a:prstGeom prst="rect">
            <a:avLst/>
          </a:prstGeom>
          <a:noFill/>
        </p:spPr>
        <p:txBody>
          <a:bodyPr wrap="square">
            <a:spAutoFit/>
          </a:bodyPr>
          <a:lstStyle/>
          <a:p>
            <a:pPr>
              <a:spcBef>
                <a:spcPts val="600"/>
              </a:spcBef>
              <a:defRPr sz="1600">
                <a:solidFill>
                  <a:srgbClr val="333333"/>
                </a:solidFill>
              </a:defRPr>
            </a:pPr>
            <a:r>
              <a:t>• 2,000 SME loan applications analyzed</a:t>
            </a:r>
          </a:p>
          <a:p>
            <a:pPr>
              <a:spcBef>
                <a:spcPts val="600"/>
              </a:spcBef>
              <a:defRPr sz="1600">
                <a:solidFill>
                  <a:srgbClr val="333333"/>
                </a:solidFill>
              </a:defRPr>
            </a:pPr>
            <a:r>
              <a:t>• Default rate varies by sector (9% - 45%)</a:t>
            </a:r>
          </a:p>
          <a:p>
            <a:pPr>
              <a:spcBef>
                <a:spcPts val="600"/>
              </a:spcBef>
              <a:defRPr sz="1600">
                <a:solidFill>
                  <a:srgbClr val="333333"/>
                </a:solidFill>
              </a:defRPr>
            </a:pPr>
            <a:r>
              <a:t>• Cost asymmetry: False positives cost $500K+ (lost revenue)</a:t>
            </a:r>
          </a:p>
          <a:p>
            <a:pPr>
              <a:spcBef>
                <a:spcPts val="600"/>
              </a:spcBef>
              <a:defRPr sz="1600">
                <a:solidFill>
                  <a:srgbClr val="333333"/>
                </a:solidFill>
              </a:defRPr>
            </a:pPr>
            <a:r>
              <a:t>• Cost asymmetry: False negatives cost $50K+ (loan default)</a:t>
            </a:r>
          </a:p>
          <a:p>
            <a:pPr>
              <a:spcBef>
                <a:spcPts val="600"/>
              </a:spcBef>
              <a:defRPr sz="1600">
                <a:solidFill>
                  <a:srgbClr val="333333"/>
                </a:solidFill>
              </a:defRPr>
            </a:pPr>
            <a:r>
              <a:t>• 10:1 cost ratio drives decision thresholds</a:t>
            </a:r>
          </a:p>
        </p:txBody>
      </p:sp>
      <p:pic>
        <p:nvPicPr>
          <p:cNvPr id="5" name="Picture 4" descr="04_default_rate_by_sector.png"/>
          <p:cNvPicPr>
            <a:picLocks noChangeAspect="1"/>
          </p:cNvPicPr>
          <p:nvPr/>
        </p:nvPicPr>
        <p:blipFill>
          <a:blip r:embed="rId2"/>
          <a:stretch>
            <a:fillRect/>
          </a:stretch>
        </p:blipFill>
        <p:spPr>
          <a:xfrm>
            <a:off x="4846320" y="1371600"/>
            <a:ext cx="3840480" cy="15788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003366"/>
                </a:solidFill>
              </a:defRPr>
            </a:pPr>
            <a:r>
              <a:t>Leakage Detection &amp; Data Quality</a:t>
            </a:r>
          </a:p>
        </p:txBody>
      </p:sp>
      <p:sp>
        <p:nvSpPr>
          <p:cNvPr id="3" name="Rectangle 2"/>
          <p:cNvSpPr/>
          <p:nvPr/>
        </p:nvSpPr>
        <p:spPr>
          <a:xfrm>
            <a:off x="457200" y="1051560"/>
            <a:ext cx="8229600" cy="0"/>
          </a:xfrm>
          <a:prstGeom prst="rect">
            <a:avLst/>
          </a:prstGeom>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4114800" cy="5029200"/>
          </a:xfrm>
          <a:prstGeom prst="rect">
            <a:avLst/>
          </a:prstGeom>
          <a:noFill/>
        </p:spPr>
        <p:txBody>
          <a:bodyPr wrap="square">
            <a:spAutoFit/>
          </a:bodyPr>
          <a:lstStyle/>
          <a:p>
            <a:pPr>
              <a:spcBef>
                <a:spcPts val="600"/>
              </a:spcBef>
              <a:defRPr sz="1600">
                <a:solidFill>
                  <a:srgbClr val="333333"/>
                </a:solidFill>
              </a:defRPr>
            </a:pPr>
            <a:r>
              <a:t>• EDA revealed class imbalance (88% approve, 12% default)</a:t>
            </a:r>
          </a:p>
          <a:p>
            <a:pPr>
              <a:spcBef>
                <a:spcPts val="600"/>
              </a:spcBef>
              <a:defRPr sz="1600">
                <a:solidFill>
                  <a:srgbClr val="333333"/>
                </a:solidFill>
              </a:defRPr>
            </a:pPr>
            <a:r>
              <a:t>• Missing data concentrated in specific sectors</a:t>
            </a:r>
          </a:p>
          <a:p>
            <a:pPr>
              <a:spcBef>
                <a:spcPts val="600"/>
              </a:spcBef>
              <a:defRPr sz="1600">
                <a:solidFill>
                  <a:srgbClr val="333333"/>
                </a:solidFill>
              </a:defRPr>
            </a:pPr>
            <a:r>
              <a:t>• Root cause: Data collection gaps in early pipeline</a:t>
            </a:r>
          </a:p>
          <a:p>
            <a:pPr>
              <a:spcBef>
                <a:spcPts val="600"/>
              </a:spcBef>
              <a:defRPr sz="1600">
                <a:solidFill>
                  <a:srgbClr val="333333"/>
                </a:solidFill>
              </a:defRPr>
            </a:pPr>
            <a:r>
              <a:t>• Action: Excluded incomplete records from model training</a:t>
            </a:r>
          </a:p>
          <a:p>
            <a:pPr>
              <a:spcBef>
                <a:spcPts val="600"/>
              </a:spcBef>
              <a:defRPr sz="1600">
                <a:solidFill>
                  <a:srgbClr val="333333"/>
                </a:solidFill>
              </a:defRPr>
            </a:pPr>
            <a:r>
              <a:t>• Result: Clean dataset, 4.8% missing data (&lt; 5% threshold)</a:t>
            </a:r>
          </a:p>
        </p:txBody>
      </p:sp>
      <p:pic>
        <p:nvPicPr>
          <p:cNvPr id="5" name="Picture 4" descr="02_missing_data_heatmap.png"/>
          <p:cNvPicPr>
            <a:picLocks noChangeAspect="1"/>
          </p:cNvPicPr>
          <p:nvPr/>
        </p:nvPicPr>
        <p:blipFill>
          <a:blip r:embed="rId2"/>
          <a:stretch>
            <a:fillRect/>
          </a:stretch>
        </p:blipFill>
        <p:spPr>
          <a:xfrm>
            <a:off x="4846320" y="1371600"/>
            <a:ext cx="3840480" cy="151548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003366"/>
                </a:solidFill>
              </a:defRPr>
            </a:pPr>
            <a:r>
              <a:t>Feature Engineering (v3)</a:t>
            </a:r>
          </a:p>
        </p:txBody>
      </p:sp>
      <p:sp>
        <p:nvSpPr>
          <p:cNvPr id="3" name="Rectangle 2"/>
          <p:cNvSpPr/>
          <p:nvPr/>
        </p:nvSpPr>
        <p:spPr>
          <a:xfrm>
            <a:off x="457200" y="1051560"/>
            <a:ext cx="8229600" cy="0"/>
          </a:xfrm>
          <a:prstGeom prst="rect">
            <a:avLst/>
          </a:prstGeom>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4114800" cy="5029200"/>
          </a:xfrm>
          <a:prstGeom prst="rect">
            <a:avLst/>
          </a:prstGeom>
          <a:noFill/>
        </p:spPr>
        <p:txBody>
          <a:bodyPr wrap="square">
            <a:spAutoFit/>
          </a:bodyPr>
          <a:lstStyle/>
          <a:p>
            <a:pPr>
              <a:spcBef>
                <a:spcPts val="600"/>
              </a:spcBef>
              <a:defRPr sz="1600">
                <a:solidFill>
                  <a:srgbClr val="333333"/>
                </a:solidFill>
              </a:defRPr>
            </a:pPr>
            <a:r>
              <a:t>• 41 total features engineered (24 numeric, 6 categorical, 11 binary)</a:t>
            </a:r>
          </a:p>
          <a:p>
            <a:pPr>
              <a:spcBef>
                <a:spcPts val="600"/>
              </a:spcBef>
              <a:defRPr sz="1600">
                <a:solidFill>
                  <a:srgbClr val="333333"/>
                </a:solidFill>
              </a:defRPr>
            </a:pPr>
            <a:r>
              <a:t>• Domain-specific: Debt-to-Income, Revenue stability, Sector risk</a:t>
            </a:r>
          </a:p>
          <a:p>
            <a:pPr>
              <a:spcBef>
                <a:spcPts val="600"/>
              </a:spcBef>
              <a:defRPr sz="1600">
                <a:solidFill>
                  <a:srgbClr val="333333"/>
                </a:solidFill>
              </a:defRPr>
            </a:pPr>
            <a:r>
              <a:t>• Statistical: Log transformations, interactions, scaling</a:t>
            </a:r>
          </a:p>
          <a:p>
            <a:pPr>
              <a:spcBef>
                <a:spcPts val="600"/>
              </a:spcBef>
              <a:defRPr sz="1600">
                <a:solidFill>
                  <a:srgbClr val="333333"/>
                </a:solidFill>
              </a:defRPr>
            </a:pPr>
            <a:r>
              <a:t>• Key features: Revenue, Years in business, Debt-to-Income ratio</a:t>
            </a:r>
          </a:p>
          <a:p>
            <a:pPr>
              <a:spcBef>
                <a:spcPts val="600"/>
              </a:spcBef>
              <a:defRPr sz="1600">
                <a:solidFill>
                  <a:srgbClr val="333333"/>
                </a:solidFill>
              </a:defRPr>
            </a:pPr>
            <a:r>
              <a:t>• Feature importance ranked via SHAP analysis</a:t>
            </a:r>
          </a:p>
        </p:txBody>
      </p:sp>
      <p:pic>
        <p:nvPicPr>
          <p:cNvPr id="5" name="Picture 4" descr="09b_new_features_v3.png"/>
          <p:cNvPicPr>
            <a:picLocks noChangeAspect="1"/>
          </p:cNvPicPr>
          <p:nvPr/>
        </p:nvPicPr>
        <p:blipFill>
          <a:blip r:embed="rId2"/>
          <a:stretch>
            <a:fillRect/>
          </a:stretch>
        </p:blipFill>
        <p:spPr>
          <a:xfrm>
            <a:off x="4846320" y="1371600"/>
            <a:ext cx="3840480" cy="326197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003366"/>
                </a:solidFill>
              </a:defRPr>
            </a:pPr>
            <a:r>
              <a:t>Model Evaluation Results</a:t>
            </a:r>
          </a:p>
        </p:txBody>
      </p:sp>
      <p:sp>
        <p:nvSpPr>
          <p:cNvPr id="3" name="Rectangle 2"/>
          <p:cNvSpPr/>
          <p:nvPr/>
        </p:nvSpPr>
        <p:spPr>
          <a:xfrm>
            <a:off x="457200" y="1051560"/>
            <a:ext cx="8229600" cy="0"/>
          </a:xfrm>
          <a:prstGeom prst="rect">
            <a:avLst/>
          </a:prstGeom>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5029200"/>
          </a:xfrm>
          <a:prstGeom prst="rect">
            <a:avLst/>
          </a:prstGeom>
          <a:noFill/>
        </p:spPr>
        <p:txBody>
          <a:bodyPr wrap="square">
            <a:spAutoFit/>
          </a:bodyPr>
          <a:lstStyle/>
          <a:p>
            <a:pPr>
              <a:spcBef>
                <a:spcPts val="800"/>
              </a:spcBef>
              <a:defRPr sz="1800">
                <a:solidFill>
                  <a:srgbClr val="333333"/>
                </a:solidFill>
              </a:defRPr>
            </a:pPr>
            <a:r>
              <a:t>Model Performance (4 models trained):</a:t>
            </a:r>
          </a:p>
          <a:p>
            <a:pPr>
              <a:spcBef>
                <a:spcPts val="800"/>
              </a:spcBef>
              <a:defRPr sz="1800">
                <a:solidFill>
                  <a:srgbClr val="333333"/>
                </a:solidFill>
              </a:defRPr>
            </a:pPr>
          </a:p>
          <a:p>
            <a:pPr>
              <a:spcBef>
                <a:spcPts val="800"/>
              </a:spcBef>
              <a:defRPr sz="1800">
                <a:solidFill>
                  <a:srgbClr val="333333"/>
                </a:solidFill>
              </a:defRPr>
            </a:pPr>
            <a:r>
              <a:t>• Logistic Regression: AUC 0.6073 ⭐ WINNER | Gini 0.2146</a:t>
            </a:r>
          </a:p>
          <a:p>
            <a:pPr>
              <a:spcBef>
                <a:spcPts val="800"/>
              </a:spcBef>
              <a:defRPr sz="1800">
                <a:solidFill>
                  <a:srgbClr val="333333"/>
                </a:solidFill>
              </a:defRPr>
            </a:pPr>
            <a:r>
              <a:t>• XGBoost: AUC 0.5996 | Gini 0.1992</a:t>
            </a:r>
          </a:p>
          <a:p>
            <a:pPr>
              <a:spcBef>
                <a:spcPts val="800"/>
              </a:spcBef>
              <a:defRPr sz="1800">
                <a:solidFill>
                  <a:srgbClr val="333333"/>
                </a:solidFill>
              </a:defRPr>
            </a:pPr>
            <a:r>
              <a:t>• LightGBM: AUC 0.6104 | Gini 0.2208</a:t>
            </a:r>
          </a:p>
          <a:p>
            <a:pPr>
              <a:spcBef>
                <a:spcPts val="800"/>
              </a:spcBef>
              <a:defRPr sz="1800">
                <a:solidFill>
                  <a:srgbClr val="333333"/>
                </a:solidFill>
              </a:defRPr>
            </a:pPr>
            <a:r>
              <a:t>• Stacking Ensemble: AUC 0.6110 | Gini 0.2215</a:t>
            </a:r>
          </a:p>
          <a:p>
            <a:pPr>
              <a:spcBef>
                <a:spcPts val="800"/>
              </a:spcBef>
              <a:defRPr sz="1800">
                <a:solidFill>
                  <a:srgbClr val="333333"/>
                </a:solidFill>
              </a:defRPr>
            </a:pPr>
          </a:p>
          <a:p>
            <a:pPr>
              <a:spcBef>
                <a:spcPts val="800"/>
              </a:spcBef>
              <a:defRPr sz="1800">
                <a:solidFill>
                  <a:srgbClr val="333333"/>
                </a:solidFill>
              </a:defRPr>
            </a:pPr>
            <a:r>
              <a:t>Winner: Logistic Regression (interpretability + fairness +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003366"/>
                </a:solidFill>
              </a:defRPr>
            </a:pPr>
            <a:r>
              <a:t>Decision Engine &amp; Rules Framework</a:t>
            </a:r>
          </a:p>
        </p:txBody>
      </p:sp>
      <p:sp>
        <p:nvSpPr>
          <p:cNvPr id="3" name="Rectangle 2"/>
          <p:cNvSpPr/>
          <p:nvPr/>
        </p:nvSpPr>
        <p:spPr>
          <a:xfrm>
            <a:off x="457200" y="1051560"/>
            <a:ext cx="8229600" cy="0"/>
          </a:xfrm>
          <a:prstGeom prst="rect">
            <a:avLst/>
          </a:prstGeom>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4114800" cy="5029200"/>
          </a:xfrm>
          <a:prstGeom prst="rect">
            <a:avLst/>
          </a:prstGeom>
          <a:noFill/>
        </p:spPr>
        <p:txBody>
          <a:bodyPr wrap="square">
            <a:spAutoFit/>
          </a:bodyPr>
          <a:lstStyle/>
          <a:p>
            <a:pPr>
              <a:spcBef>
                <a:spcPts val="600"/>
              </a:spcBef>
              <a:defRPr sz="1600">
                <a:solidFill>
                  <a:srgbClr val="333333"/>
                </a:solidFill>
              </a:defRPr>
            </a:pPr>
            <a:r>
              <a:t>Hard Decision Rules (6 rules enforced):</a:t>
            </a:r>
          </a:p>
          <a:p>
            <a:pPr>
              <a:spcBef>
                <a:spcPts val="600"/>
              </a:spcBef>
              <a:defRPr sz="1600">
                <a:solidFill>
                  <a:srgbClr val="333333"/>
                </a:solidFill>
              </a:defRPr>
            </a:pPr>
            <a:r>
              <a:t>• R001: Revenue &lt; 500K → DECLINE</a:t>
            </a:r>
          </a:p>
          <a:p>
            <a:pPr>
              <a:spcBef>
                <a:spcPts val="600"/>
              </a:spcBef>
              <a:defRPr sz="1600">
                <a:solidFill>
                  <a:srgbClr val="333333"/>
                </a:solidFill>
              </a:defRPr>
            </a:pPr>
            <a:r>
              <a:t>• R002: Debt-to-Income &gt; 0.5 → DECLINE</a:t>
            </a:r>
          </a:p>
          <a:p>
            <a:pPr>
              <a:spcBef>
                <a:spcPts val="600"/>
              </a:spcBef>
              <a:defRPr sz="1600">
                <a:solidFill>
                  <a:srgbClr val="333333"/>
                </a:solidFill>
              </a:defRPr>
            </a:pPr>
            <a:r>
              <a:t>• R003: Credit Defect=Yes → DECLINE</a:t>
            </a:r>
          </a:p>
          <a:p>
            <a:pPr>
              <a:spcBef>
                <a:spcPts val="600"/>
              </a:spcBef>
              <a:defRPr sz="1600">
                <a:solidFill>
                  <a:srgbClr val="333333"/>
                </a:solidFill>
              </a:defRPr>
            </a:pPr>
            <a:r>
              <a:t>• R004: Years in Business &lt; 1 → REFER</a:t>
            </a:r>
          </a:p>
          <a:p>
            <a:pPr>
              <a:spcBef>
                <a:spcPts val="600"/>
              </a:spcBef>
              <a:defRPr sz="1600">
                <a:solidFill>
                  <a:srgbClr val="333333"/>
                </a:solidFill>
              </a:defRPr>
            </a:pPr>
            <a:r>
              <a:t>• R005: Score &lt; 0.3 → DECLINE</a:t>
            </a:r>
          </a:p>
          <a:p>
            <a:pPr>
              <a:spcBef>
                <a:spcPts val="600"/>
              </a:spcBef>
              <a:defRPr sz="1600">
                <a:solidFill>
                  <a:srgbClr val="333333"/>
                </a:solidFill>
              </a:defRPr>
            </a:pPr>
            <a:r>
              <a:t>• R006: Score &gt; 0.8 → APPROVE</a:t>
            </a:r>
          </a:p>
          <a:p>
            <a:pPr>
              <a:spcBef>
                <a:spcPts val="600"/>
              </a:spcBef>
              <a:defRPr sz="1600">
                <a:solidFill>
                  <a:srgbClr val="333333"/>
                </a:solidFill>
              </a:defRPr>
            </a:pPr>
          </a:p>
          <a:p>
            <a:pPr>
              <a:spcBef>
                <a:spcPts val="600"/>
              </a:spcBef>
              <a:defRPr sz="1600">
                <a:solidFill>
                  <a:srgbClr val="333333"/>
                </a:solidFill>
              </a:defRPr>
            </a:pPr>
            <a:r>
              <a:t>Decision Distribution: APPROVE 40.8% | REFER 46.2% | DECLINE 13.0%</a:t>
            </a:r>
          </a:p>
        </p:txBody>
      </p:sp>
      <p:pic>
        <p:nvPicPr>
          <p:cNvPr id="5" name="Picture 4" descr="14_decision_distribution.png"/>
          <p:cNvPicPr>
            <a:picLocks noChangeAspect="1"/>
          </p:cNvPicPr>
          <p:nvPr/>
        </p:nvPicPr>
        <p:blipFill>
          <a:blip r:embed="rId2"/>
          <a:stretch>
            <a:fillRect/>
          </a:stretch>
        </p:blipFill>
        <p:spPr>
          <a:xfrm>
            <a:off x="4846320" y="1371600"/>
            <a:ext cx="3840480" cy="155495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003366"/>
                </a:solidFill>
              </a:defRPr>
            </a:pPr>
            <a:r>
              <a:t>Ethics &amp; Fairness Audit</a:t>
            </a:r>
          </a:p>
        </p:txBody>
      </p:sp>
      <p:sp>
        <p:nvSpPr>
          <p:cNvPr id="3" name="Rectangle 2"/>
          <p:cNvSpPr/>
          <p:nvPr/>
        </p:nvSpPr>
        <p:spPr>
          <a:xfrm>
            <a:off x="457200" y="1051560"/>
            <a:ext cx="8229600" cy="0"/>
          </a:xfrm>
          <a:prstGeom prst="rect">
            <a:avLst/>
          </a:prstGeom>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4114800" cy="5029200"/>
          </a:xfrm>
          <a:prstGeom prst="rect">
            <a:avLst/>
          </a:prstGeom>
          <a:noFill/>
        </p:spPr>
        <p:txBody>
          <a:bodyPr wrap="square">
            <a:spAutoFit/>
          </a:bodyPr>
          <a:lstStyle/>
          <a:p>
            <a:pPr>
              <a:spcBef>
                <a:spcPts val="600"/>
              </a:spcBef>
              <a:defRPr sz="1600">
                <a:solidFill>
                  <a:srgbClr val="333333"/>
                </a:solidFill>
              </a:defRPr>
            </a:pPr>
            <a:r>
              <a:t>Fairness Audit Results:</a:t>
            </a:r>
          </a:p>
          <a:p>
            <a:pPr>
              <a:spcBef>
                <a:spcPts val="600"/>
              </a:spcBef>
              <a:defRPr sz="1600">
                <a:solidFill>
                  <a:srgbClr val="333333"/>
                </a:solidFill>
              </a:defRPr>
            </a:pPr>
          </a:p>
          <a:p>
            <a:pPr>
              <a:spcBef>
                <a:spcPts val="600"/>
              </a:spcBef>
              <a:defRPr sz="1600">
                <a:solidFill>
                  <a:srgbClr val="333333"/>
                </a:solidFill>
              </a:defRPr>
            </a:pPr>
            <a:r>
              <a:t>• Disparate Impact Ratio (DIR) calculated for all groups</a:t>
            </a:r>
          </a:p>
          <a:p>
            <a:pPr>
              <a:spcBef>
                <a:spcPts val="600"/>
              </a:spcBef>
              <a:defRPr sz="1600">
                <a:solidFill>
                  <a:srgbClr val="333333"/>
                </a:solidFill>
              </a:defRPr>
            </a:pPr>
            <a:r>
              <a:t>• All groups show DIR &gt; 0.80 (regulatory threshold met)</a:t>
            </a:r>
          </a:p>
          <a:p>
            <a:pPr>
              <a:spcBef>
                <a:spcPts val="600"/>
              </a:spcBef>
              <a:defRPr sz="1600">
                <a:solidFill>
                  <a:srgbClr val="333333"/>
                </a:solidFill>
              </a:defRPr>
            </a:pPr>
            <a:r>
              <a:t>• No systematic bias detected across demographics</a:t>
            </a:r>
          </a:p>
          <a:p>
            <a:pPr>
              <a:spcBef>
                <a:spcPts val="600"/>
              </a:spcBef>
              <a:defRPr sz="1600">
                <a:solidFill>
                  <a:srgbClr val="333333"/>
                </a:solidFill>
              </a:defRPr>
            </a:pPr>
            <a:r>
              <a:t>• SHAP analysis confirms feature attribution fairness</a:t>
            </a:r>
          </a:p>
          <a:p>
            <a:pPr>
              <a:spcBef>
                <a:spcPts val="600"/>
              </a:spcBef>
              <a:defRPr sz="1600">
                <a:solidFill>
                  <a:srgbClr val="333333"/>
                </a:solidFill>
              </a:defRPr>
            </a:pPr>
            <a:r>
              <a:t>• Regular monitoring required in production</a:t>
            </a:r>
          </a:p>
        </p:txBody>
      </p:sp>
      <p:pic>
        <p:nvPicPr>
          <p:cNvPr id="5" name="Picture 4" descr="17_disparate_impact.png"/>
          <p:cNvPicPr>
            <a:picLocks noChangeAspect="1"/>
          </p:cNvPicPr>
          <p:nvPr/>
        </p:nvPicPr>
        <p:blipFill>
          <a:blip r:embed="rId2"/>
          <a:stretch>
            <a:fillRect/>
          </a:stretch>
        </p:blipFill>
        <p:spPr>
          <a:xfrm>
            <a:off x="4846320" y="1371600"/>
            <a:ext cx="3840480" cy="111322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003366"/>
                </a:solidFill>
              </a:defRPr>
            </a:pPr>
            <a:r>
              <a:t>Production Pipeline Architecture</a:t>
            </a:r>
          </a:p>
        </p:txBody>
      </p:sp>
      <p:sp>
        <p:nvSpPr>
          <p:cNvPr id="3" name="Rectangle 2"/>
          <p:cNvSpPr/>
          <p:nvPr/>
        </p:nvSpPr>
        <p:spPr>
          <a:xfrm>
            <a:off x="457200" y="1051560"/>
            <a:ext cx="8229600" cy="0"/>
          </a:xfrm>
          <a:prstGeom prst="rect">
            <a:avLst/>
          </a:prstGeom>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4114800" cy="5029200"/>
          </a:xfrm>
          <a:prstGeom prst="rect">
            <a:avLst/>
          </a:prstGeom>
          <a:noFill/>
        </p:spPr>
        <p:txBody>
          <a:bodyPr wrap="square">
            <a:spAutoFit/>
          </a:bodyPr>
          <a:lstStyle/>
          <a:p>
            <a:pPr>
              <a:spcBef>
                <a:spcPts val="600"/>
              </a:spcBef>
              <a:defRPr sz="1600">
                <a:solidFill>
                  <a:srgbClr val="333333"/>
                </a:solidFill>
              </a:defRPr>
            </a:pPr>
            <a:r>
              <a:t>End-to-end ML pipeline ready for deployment</a:t>
            </a:r>
          </a:p>
          <a:p>
            <a:pPr>
              <a:spcBef>
                <a:spcPts val="600"/>
              </a:spcBef>
              <a:defRPr sz="1600">
                <a:solidFill>
                  <a:srgbClr val="333333"/>
                </a:solidFill>
              </a:defRPr>
            </a:pPr>
            <a:r>
              <a:t>Data → Preprocessing → Feature Engineering → Model → Decision Engine</a:t>
            </a:r>
          </a:p>
          <a:p>
            <a:pPr>
              <a:spcBef>
                <a:spcPts val="600"/>
              </a:spcBef>
              <a:defRPr sz="1600">
                <a:solidFill>
                  <a:srgbClr val="333333"/>
                </a:solidFill>
              </a:defRPr>
            </a:pPr>
            <a:r>
              <a:t>Fairness checks built into decision logic</a:t>
            </a:r>
          </a:p>
          <a:p>
            <a:pPr>
              <a:spcBef>
                <a:spcPts val="600"/>
              </a:spcBef>
              <a:defRPr sz="1600">
                <a:solidFill>
                  <a:srgbClr val="333333"/>
                </a:solidFill>
              </a:defRPr>
            </a:pPr>
            <a:r>
              <a:t>Explainability: SHAP for all decisions</a:t>
            </a:r>
          </a:p>
          <a:p>
            <a:pPr>
              <a:spcBef>
                <a:spcPts val="600"/>
              </a:spcBef>
              <a:defRPr sz="1600">
                <a:solidFill>
                  <a:srgbClr val="333333"/>
                </a:solidFill>
              </a:defRPr>
            </a:pPr>
            <a:r>
              <a:t>Audit trail: All decisions logged with rule traces</a:t>
            </a:r>
          </a:p>
        </p:txBody>
      </p:sp>
      <p:pic>
        <p:nvPicPr>
          <p:cNvPr id="5" name="Picture 4" descr="00_pipeline_architecture.png"/>
          <p:cNvPicPr>
            <a:picLocks noChangeAspect="1"/>
          </p:cNvPicPr>
          <p:nvPr/>
        </p:nvPicPr>
        <p:blipFill>
          <a:blip r:embed="rId2"/>
          <a:stretch>
            <a:fillRect/>
          </a:stretch>
        </p:blipFill>
        <p:spPr>
          <a:xfrm>
            <a:off x="4846320" y="1371600"/>
            <a:ext cx="3840480" cy="56192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