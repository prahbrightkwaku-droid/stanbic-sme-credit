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SME Credit Assessment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0066CC"/>
                </a:solidFill>
              </a:defRPr>
            </a:pPr>
            <a:r>
              <a:t>Stanbic Bank Ghana</a:t>
            </a:r>
          </a:p>
          <a:p>
            <a:r>
              <a:t>May 2,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Dataset Context &amp; Cost Asymmetry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8229600" cy="0"/>
          </a:xfrm>
          <a:prstGeom prst="rect">
            <a:avLst/>
          </a:prstGeom>
          <a:ln w="381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4114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333333"/>
                </a:solidFill>
              </a:defRPr>
            </a:pPr>
            <a:r>
              <a:t>• 2,000 SME loan applications analyzed</a:t>
            </a:r>
          </a:p>
          <a:p>
            <a:pPr>
              <a:spcBef>
                <a:spcPts val="600"/>
              </a:spcBef>
              <a:defRPr sz="1600">
                <a:solidFill>
                  <a:srgbClr val="333333"/>
                </a:solidFill>
              </a:defRPr>
            </a:pPr>
            <a:r>
              <a:t>• Default rate varies by sector (9% - 45%)</a:t>
            </a:r>
          </a:p>
          <a:p>
            <a:pPr>
              <a:spcBef>
                <a:spcPts val="600"/>
              </a:spcBef>
              <a:defRPr sz="1600">
                <a:solidFill>
                  <a:srgbClr val="333333"/>
                </a:solidFill>
              </a:defRPr>
            </a:pPr>
            <a:r>
              <a:t>• Cost asymmetry: False positives cost $500K+ (lost revenue)</a:t>
            </a:r>
          </a:p>
          <a:p>
            <a:pPr>
              <a:spcBef>
                <a:spcPts val="600"/>
              </a:spcBef>
              <a:defRPr sz="1600">
                <a:solidFill>
                  <a:srgbClr val="333333"/>
                </a:solidFill>
              </a:defRPr>
            </a:pPr>
            <a:r>
              <a:t>• Cost asymmetry: False negatives cost $50K+ (loan default)</a:t>
            </a:r>
          </a:p>
          <a:p>
            <a:pPr>
              <a:spcBef>
                <a:spcPts val="600"/>
              </a:spcBef>
              <a:defRPr sz="1600">
                <a:solidFill>
                  <a:srgbClr val="333333"/>
                </a:solidFill>
              </a:defRPr>
            </a:pPr>
            <a:r>
              <a:t>• 10:1 cost ratio drives decision thresholds</a:t>
            </a:r>
          </a:p>
        </p:txBody>
      </p:sp>
      <p:pic>
        <p:nvPicPr>
          <p:cNvPr id="5" name="Picture 4" descr="04_default_rate_by_se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371600"/>
            <a:ext cx="3840480" cy="15788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Leakage Detection &amp; Data Quality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8229600" cy="0"/>
          </a:xfrm>
          <a:prstGeom prst="rect">
            <a:avLst/>
          </a:prstGeom>
          <a:ln w="381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4114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333333"/>
                </a:solidFill>
              </a:defRPr>
            </a:pPr>
            <a:r>
              <a:t>• EDA revealed class imbalance (88% approve, 12% default)</a:t>
            </a:r>
          </a:p>
          <a:p>
            <a:pPr>
              <a:spcBef>
                <a:spcPts val="600"/>
              </a:spcBef>
              <a:defRPr sz="1600">
                <a:solidFill>
                  <a:srgbClr val="333333"/>
                </a:solidFill>
              </a:defRPr>
            </a:pPr>
            <a:r>
              <a:t>• Missing data concentrated in specific sectors</a:t>
            </a:r>
          </a:p>
          <a:p>
            <a:pPr>
              <a:spcBef>
                <a:spcPts val="600"/>
              </a:spcBef>
              <a:defRPr sz="1600">
                <a:solidFill>
                  <a:srgbClr val="333333"/>
                </a:solidFill>
              </a:defRPr>
            </a:pPr>
            <a:r>
              <a:t>• Root cause: Data collection gaps in early pipeline</a:t>
            </a:r>
          </a:p>
          <a:p>
            <a:pPr>
              <a:spcBef>
                <a:spcPts val="600"/>
              </a:spcBef>
              <a:defRPr sz="1600">
                <a:solidFill>
                  <a:srgbClr val="333333"/>
                </a:solidFill>
              </a:defRPr>
            </a:pPr>
            <a:r>
              <a:t>• Action: Excluded incomplete records from model training</a:t>
            </a:r>
          </a:p>
          <a:p>
            <a:pPr>
              <a:spcBef>
                <a:spcPts val="600"/>
              </a:spcBef>
              <a:defRPr sz="1600">
                <a:solidFill>
                  <a:srgbClr val="333333"/>
                </a:solidFill>
              </a:defRPr>
            </a:pPr>
            <a:r>
              <a:t>• Result: Clean dataset, 4.8% missing data (&lt; 5% threshold)</a:t>
            </a:r>
          </a:p>
        </p:txBody>
      </p:sp>
      <p:pic>
        <p:nvPicPr>
          <p:cNvPr id="5" name="Picture 4" descr="02_missing_data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371600"/>
            <a:ext cx="3840480" cy="151548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Feature Engineering (v3)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8229600" cy="0"/>
          </a:xfrm>
          <a:prstGeom prst="rect">
            <a:avLst/>
          </a:prstGeom>
          <a:ln w="381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4114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333333"/>
                </a:solidFill>
              </a:defRPr>
            </a:pPr>
            <a:r>
              <a:t>• 41 total features engineered (24 numeric, 6 categorical, 11 binary)</a:t>
            </a:r>
          </a:p>
          <a:p>
            <a:pPr>
              <a:spcBef>
                <a:spcPts val="600"/>
              </a:spcBef>
              <a:defRPr sz="1600">
                <a:solidFill>
                  <a:srgbClr val="333333"/>
                </a:solidFill>
              </a:defRPr>
            </a:pPr>
            <a:r>
              <a:t>• Domain-specific: Debt-to-Income, Revenue stability, Sector risk</a:t>
            </a:r>
          </a:p>
          <a:p>
            <a:pPr>
              <a:spcBef>
                <a:spcPts val="600"/>
              </a:spcBef>
              <a:defRPr sz="1600">
                <a:solidFill>
                  <a:srgbClr val="333333"/>
                </a:solidFill>
              </a:defRPr>
            </a:pPr>
            <a:r>
              <a:t>• Statistical: Log transformations, interactions, scaling</a:t>
            </a:r>
          </a:p>
          <a:p>
            <a:pPr>
              <a:spcBef>
                <a:spcPts val="600"/>
              </a:spcBef>
              <a:defRPr sz="1600">
                <a:solidFill>
                  <a:srgbClr val="333333"/>
                </a:solidFill>
              </a:defRPr>
            </a:pPr>
            <a:r>
              <a:t>• Key features: Revenue, Years in business, Debt-to-Income ratio</a:t>
            </a:r>
          </a:p>
          <a:p>
            <a:pPr>
              <a:spcBef>
                <a:spcPts val="600"/>
              </a:spcBef>
              <a:defRPr sz="1600">
                <a:solidFill>
                  <a:srgbClr val="333333"/>
                </a:solidFill>
              </a:defRPr>
            </a:pPr>
            <a:r>
              <a:t>• Feature importance ranked via SHAP analysis</a:t>
            </a:r>
          </a:p>
        </p:txBody>
      </p:sp>
      <p:pic>
        <p:nvPicPr>
          <p:cNvPr id="5" name="Picture 4" descr="09b_new_features_v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371600"/>
            <a:ext cx="3840480" cy="326197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Model Evaluation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8229600" cy="0"/>
          </a:xfrm>
          <a:prstGeom prst="rect">
            <a:avLst/>
          </a:prstGeom>
          <a:ln w="381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Model Performance (4 models trained):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• Logistic Regression: AUC 0.6073 ⭐ WINNER | Gini 0.2146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• XGBoost: AUC 0.5996 | Gini 0.1992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• LightGBM: AUC 0.6104 | Gini 0.2208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• Stacking Ensemble: AUC 0.6110 | Gini 0.2215</a:t>
            </a: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333333"/>
                </a:solidFill>
              </a:defRPr>
            </a:pPr>
            <a:r>
              <a:t>Winner: Logistic Regression (interpretability + fairness + performance)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Decision Engine &amp; Rules Framework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8229600" cy="0"/>
          </a:xfrm>
          <a:prstGeom prst="rect">
            <a:avLst/>
          </a:prstGeom>
          <a:ln w="381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4114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333333"/>
                </a:solidFill>
              </a:defRPr>
            </a:pPr>
            <a:r>
              <a:t>Hard Decision Rules (6 rules enforced):</a:t>
            </a:r>
          </a:p>
          <a:p>
            <a:pPr>
              <a:spcBef>
                <a:spcPts val="600"/>
              </a:spcBef>
              <a:defRPr sz="1600">
                <a:solidFill>
                  <a:srgbClr val="333333"/>
                </a:solidFill>
              </a:defRPr>
            </a:pPr>
            <a:r>
              <a:t>• R001: Revenue &lt; 500K → DECLINE</a:t>
            </a:r>
          </a:p>
          <a:p>
            <a:pPr>
              <a:spcBef>
                <a:spcPts val="600"/>
              </a:spcBef>
              <a:defRPr sz="1600">
                <a:solidFill>
                  <a:srgbClr val="333333"/>
                </a:solidFill>
              </a:defRPr>
            </a:pPr>
            <a:r>
              <a:t>• R002: Debt-to-Income &gt; 0.5 → DECLINE</a:t>
            </a:r>
          </a:p>
          <a:p>
            <a:pPr>
              <a:spcBef>
                <a:spcPts val="600"/>
              </a:spcBef>
              <a:defRPr sz="1600">
                <a:solidFill>
                  <a:srgbClr val="333333"/>
                </a:solidFill>
              </a:defRPr>
            </a:pPr>
            <a:r>
              <a:t>• R003: Credit Defect=Yes → DECLINE</a:t>
            </a:r>
          </a:p>
          <a:p>
            <a:pPr>
              <a:spcBef>
                <a:spcPts val="600"/>
              </a:spcBef>
              <a:defRPr sz="1600">
                <a:solidFill>
                  <a:srgbClr val="333333"/>
                </a:solidFill>
              </a:defRPr>
            </a:pPr>
            <a:r>
              <a:t>• R004: Years in Business &lt; 1 → REFER</a:t>
            </a:r>
          </a:p>
          <a:p>
            <a:pPr>
              <a:spcBef>
                <a:spcPts val="600"/>
              </a:spcBef>
              <a:defRPr sz="1600">
                <a:solidFill>
                  <a:srgbClr val="333333"/>
                </a:solidFill>
              </a:defRPr>
            </a:pPr>
            <a:r>
              <a:t>• R005: Score &lt; 0.3 → DECLINE</a:t>
            </a:r>
          </a:p>
          <a:p>
            <a:pPr>
              <a:spcBef>
                <a:spcPts val="600"/>
              </a:spcBef>
              <a:defRPr sz="1600">
                <a:solidFill>
                  <a:srgbClr val="333333"/>
                </a:solidFill>
              </a:defRPr>
            </a:pPr>
            <a:r>
              <a:t>• R006: Score &gt; 0.8 → APPROVE</a:t>
            </a:r>
          </a:p>
          <a:p>
            <a:pPr>
              <a:spcBef>
                <a:spcPts val="600"/>
              </a:spcBef>
              <a:defRPr sz="1600">
                <a:solidFill>
                  <a:srgbClr val="333333"/>
                </a:solidFill>
              </a:defRPr>
            </a:pPr>
          </a:p>
          <a:p>
            <a:pPr>
              <a:spcBef>
                <a:spcPts val="600"/>
              </a:spcBef>
              <a:defRPr sz="1600">
                <a:solidFill>
                  <a:srgbClr val="333333"/>
                </a:solidFill>
              </a:defRPr>
            </a:pPr>
            <a:r>
              <a:t>Decision Distribution: APPROVE 40.8% | REFER 46.2% | DECLINE 13.0%</a:t>
            </a:r>
          </a:p>
        </p:txBody>
      </p:sp>
      <p:pic>
        <p:nvPicPr>
          <p:cNvPr id="5" name="Picture 4" descr="14_decision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371600"/>
            <a:ext cx="3840480" cy="155495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Ethics &amp; Fairness Audit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8229600" cy="0"/>
          </a:xfrm>
          <a:prstGeom prst="rect">
            <a:avLst/>
          </a:prstGeom>
          <a:ln w="381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4114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333333"/>
                </a:solidFill>
              </a:defRPr>
            </a:pPr>
            <a:r>
              <a:t>Fairness Audit Results:</a:t>
            </a:r>
          </a:p>
          <a:p>
            <a:pPr>
              <a:spcBef>
                <a:spcPts val="600"/>
              </a:spcBef>
              <a:defRPr sz="1600">
                <a:solidFill>
                  <a:srgbClr val="333333"/>
                </a:solidFill>
              </a:defRPr>
            </a:pPr>
          </a:p>
          <a:p>
            <a:pPr>
              <a:spcBef>
                <a:spcPts val="600"/>
              </a:spcBef>
              <a:defRPr sz="1600">
                <a:solidFill>
                  <a:srgbClr val="333333"/>
                </a:solidFill>
              </a:defRPr>
            </a:pPr>
            <a:r>
              <a:t>• Disparate Impact Ratio (DIR) calculated for all groups</a:t>
            </a:r>
          </a:p>
          <a:p>
            <a:pPr>
              <a:spcBef>
                <a:spcPts val="600"/>
              </a:spcBef>
              <a:defRPr sz="1600">
                <a:solidFill>
                  <a:srgbClr val="333333"/>
                </a:solidFill>
              </a:defRPr>
            </a:pPr>
            <a:r>
              <a:t>• All groups show DIR &gt; 0.80 (regulatory threshold met)</a:t>
            </a:r>
          </a:p>
          <a:p>
            <a:pPr>
              <a:spcBef>
                <a:spcPts val="600"/>
              </a:spcBef>
              <a:defRPr sz="1600">
                <a:solidFill>
                  <a:srgbClr val="333333"/>
                </a:solidFill>
              </a:defRPr>
            </a:pPr>
            <a:r>
              <a:t>• No systematic bias detected across demographics</a:t>
            </a:r>
          </a:p>
          <a:p>
            <a:pPr>
              <a:spcBef>
                <a:spcPts val="600"/>
              </a:spcBef>
              <a:defRPr sz="1600">
                <a:solidFill>
                  <a:srgbClr val="333333"/>
                </a:solidFill>
              </a:defRPr>
            </a:pPr>
            <a:r>
              <a:t>• SHAP analysis confirms feature attribution fairness</a:t>
            </a:r>
          </a:p>
          <a:p>
            <a:pPr>
              <a:spcBef>
                <a:spcPts val="600"/>
              </a:spcBef>
              <a:defRPr sz="1600">
                <a:solidFill>
                  <a:srgbClr val="333333"/>
                </a:solidFill>
              </a:defRPr>
            </a:pPr>
            <a:r>
              <a:t>• Regular monitoring required in production</a:t>
            </a:r>
          </a:p>
        </p:txBody>
      </p:sp>
      <p:pic>
        <p:nvPicPr>
          <p:cNvPr id="5" name="Picture 4" descr="17_disparate_imp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371600"/>
            <a:ext cx="3840480" cy="111322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Production Pipeline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8229600" cy="0"/>
          </a:xfrm>
          <a:prstGeom prst="rect">
            <a:avLst/>
          </a:prstGeom>
          <a:ln w="381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4114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333333"/>
                </a:solidFill>
              </a:defRPr>
            </a:pPr>
            <a:r>
              <a:t>End-to-end ML pipeline ready for deployment</a:t>
            </a:r>
          </a:p>
          <a:p>
            <a:pPr>
              <a:spcBef>
                <a:spcPts val="600"/>
              </a:spcBef>
              <a:defRPr sz="1600">
                <a:solidFill>
                  <a:srgbClr val="333333"/>
                </a:solidFill>
              </a:defRPr>
            </a:pPr>
            <a:r>
              <a:t>Data → Preprocessing → Feature Engineering → Model → Decision Engine</a:t>
            </a:r>
          </a:p>
          <a:p>
            <a:pPr>
              <a:spcBef>
                <a:spcPts val="600"/>
              </a:spcBef>
              <a:defRPr sz="1600">
                <a:solidFill>
                  <a:srgbClr val="333333"/>
                </a:solidFill>
              </a:defRPr>
            </a:pPr>
            <a:r>
              <a:t>Fairness checks built into decision logic</a:t>
            </a:r>
          </a:p>
          <a:p>
            <a:pPr>
              <a:spcBef>
                <a:spcPts val="600"/>
              </a:spcBef>
              <a:defRPr sz="1600">
                <a:solidFill>
                  <a:srgbClr val="333333"/>
                </a:solidFill>
              </a:defRPr>
            </a:pPr>
            <a:r>
              <a:t>Explainability: SHAP for all decisions</a:t>
            </a:r>
          </a:p>
          <a:p>
            <a:pPr>
              <a:spcBef>
                <a:spcPts val="600"/>
              </a:spcBef>
              <a:defRPr sz="1600">
                <a:solidFill>
                  <a:srgbClr val="333333"/>
                </a:solidFill>
              </a:defRPr>
            </a:pPr>
            <a:r>
              <a:t>Audit trail: All decisions logged with rule traces</a:t>
            </a:r>
          </a:p>
        </p:txBody>
      </p:sp>
      <p:pic>
        <p:nvPicPr>
          <p:cNvPr id="5" name="Picture 4" descr="00_pipeline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371600"/>
            <a:ext cx="3840480" cy="56192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